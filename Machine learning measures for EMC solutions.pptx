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8" y="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5AB4CD-B23A-40E2-ABF8-D9CD88E59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EE6D711-E059-40BF-AD1F-0A30FE761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B3FF7-59D2-4CC4-AF14-DFC96800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6F237A-706A-4465-8CB6-DF75D5AD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51EFDA-F3B4-4DCF-BCF5-7DA06708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4730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78538-55A3-45C4-B390-275005E4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A35873-7970-4473-BE30-0A22C0B43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C56CB6-79F8-4BEC-86B0-00E43890A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2A62B3-52A8-4652-A8A1-39F27C11D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84171A-016C-4447-ABB0-B0EB937F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993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93240-1BA1-4055-BE19-937C71A5B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E5DD7E-974B-4A12-A018-80A4F1690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681312-9D89-4B3C-80BB-810A4487C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45B4EF-3A41-4462-8308-70F45C43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5860BA-840E-4E32-909B-502F8802A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836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FE496A-70FB-4FBA-BCBA-6C56262F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9290D4-A259-47C3-9C95-4A6CC49E7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5A0340-8FE7-4A2B-A1E7-50BCBC9AF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F53C0A-7CCF-4EB4-BBB5-77F958751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FB80E8-0E4F-41DF-A2F1-0E6476B3D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6FF2B8-218A-4538-9E8A-69C7A0C7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761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B249CB-6AF8-4157-A46A-4152B5A08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47A194-F680-4713-93C1-C5EECC4A2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43348F-7D70-4A35-9B05-490B5B573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AC9055-96C6-4707-BB82-6142C987D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9123E8B-8610-4238-8B76-30ECDD47C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A50F71-4E5D-4239-9B96-14947C265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9B8F6E-3E29-45C7-8967-F90DEB19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E47FD90-71BB-4656-8849-269CD0E3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441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D69CBA-1C0A-4559-9AF4-E7F7AE1E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F59B48-84B7-407D-BEC6-0B422126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56FA37-8732-4DB2-9DE4-FE34BFA0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9A6E47-455A-43C6-9A52-656A4A98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903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F29B5BB-06AF-40FC-B35D-9ECEE95D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EE902BB-2602-4CDD-B4F9-624B65FA5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F0DA4A-4D08-4FCF-A6EA-C0BD97CE1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4257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041E4-CFC3-4EAE-9CBA-14D0AC8C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B68281-1A0A-428E-ACF7-2E8C502E4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93AAB1D-9621-4FDE-9D3D-3A66C4A18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6828366-9674-4E4F-90EE-EF3DF9F6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724B42-44FB-4B31-A405-008C5732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BB7C2FB-B832-4E60-811D-51A52557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801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BE8BC-5262-41B9-97C1-8B6DA9F9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DA782BF-88E1-45D6-8AC6-158A5007B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1074F2-279B-46ED-B3D2-145F07137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5D20C5-CC30-423D-BE3D-0DA76173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CFC4B8-C1BD-4F3B-8B9D-F9F2BF8CB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310900-D201-4D89-A8CB-C175FAC33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8611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539CBE-0032-4EFC-8154-839A90AA2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97AF10C-EA16-47B2-B80D-B82801B137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88AA79-F0CD-4229-B1ED-5FD2EBB4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6C81AF-2AD8-4C82-ABA1-4CCF0B91B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5F8C35-F62A-4690-86E2-6EAB40000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18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87D5748-4E75-465F-9648-65B57E1E5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3AD47A6-6F49-471A-A687-410919981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0AF8CF-BBA3-4213-B7CC-F979E098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BE44D2-C322-4012-A72D-5FFAB45BF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E0B64E-0F4C-4C98-9315-7734626E6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518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9CF36BE-4EB4-435B-B4B1-6A1A537A4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B205BC1-8002-467C-A0E4-6CEC15E94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A107BC-5493-4A26-BE8B-D5BCC85CF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8D07DE-4857-4FE6-8097-CC75762400A4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32D84C-3295-434D-9CCB-453DCF8F87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85AAED-9852-4D7E-99DC-6DBFC5E8D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57843-C72B-4FA1-AE6B-985A3D0E6BB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074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B6CA5-884E-483D-879B-CB8D2D450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5780" y="824731"/>
            <a:ext cx="8514915" cy="1150320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measures for EMC solutions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E202A9-B56A-4052-AB77-FBB501D02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859" y="3429000"/>
            <a:ext cx="6098220" cy="2604269"/>
          </a:xfrm>
        </p:spPr>
        <p:txBody>
          <a:bodyPr>
            <a:normAutofit fontScale="70000" lnSpcReduction="20000"/>
          </a:bodyPr>
          <a:lstStyle/>
          <a:p>
            <a:r>
              <a:rPr lang="en-US" sz="5100" dirty="0"/>
              <a:t>A Multi-Model Approach to Electromagnetic Compatibility</a:t>
            </a:r>
          </a:p>
          <a:p>
            <a:endParaRPr lang="en-US" sz="5100" dirty="0"/>
          </a:p>
          <a:p>
            <a:endParaRPr lang="en-US" sz="5100" dirty="0"/>
          </a:p>
          <a:p>
            <a:r>
              <a:rPr lang="en-US" sz="5100" dirty="0"/>
              <a:t>Markosyan Arman</a:t>
            </a:r>
          </a:p>
          <a:p>
            <a:endParaRPr lang="en-US" sz="5800" dirty="0"/>
          </a:p>
          <a:p>
            <a:endParaRPr lang="en-US" dirty="0"/>
          </a:p>
          <a:p>
            <a:endParaRPr lang="de-DE" dirty="0"/>
          </a:p>
        </p:txBody>
      </p:sp>
      <p:pic>
        <p:nvPicPr>
          <p:cNvPr id="1026" name="Picture 2" descr="EMC Basics">
            <a:extLst>
              <a:ext uri="{FF2B5EF4-FFF2-40B4-BE49-F238E27FC236}">
                <a16:creationId xmlns:a16="http://schemas.microsoft.com/office/drawing/2014/main" id="{5B0C3FF1-0623-42EE-9321-09B304C95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897" y="2172733"/>
            <a:ext cx="4401244" cy="3860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28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0B13F-9BA2-42C7-A725-936C4782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Challenge in EMC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ECFC60D-8735-4036-8279-0E490DD64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106" y="1763481"/>
            <a:ext cx="6220966" cy="4351338"/>
          </a:xfr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6762EBDE-DAE2-4320-9854-6B348547E86A}"/>
              </a:ext>
            </a:extLst>
          </p:cNvPr>
          <p:cNvSpPr txBox="1"/>
          <p:nvPr/>
        </p:nvSpPr>
        <p:spPr>
          <a:xfrm>
            <a:off x="312938" y="1945080"/>
            <a:ext cx="53421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The Problem: Traditional </a:t>
            </a:r>
            <a:r>
              <a:rPr lang="de-DE" dirty="0" err="1"/>
              <a:t>solvers</a:t>
            </a:r>
            <a:r>
              <a:rPr lang="de-DE" dirty="0"/>
              <a:t> (FEM, SPICE) </a:t>
            </a:r>
            <a:r>
              <a:rPr lang="de-DE" dirty="0" err="1"/>
              <a:t>are</a:t>
            </a:r>
            <a:r>
              <a:rPr lang="de-DE" dirty="0"/>
              <a:t> slow and </a:t>
            </a:r>
            <a:r>
              <a:rPr lang="de-DE" dirty="0" err="1"/>
              <a:t>computationally</a:t>
            </a:r>
            <a:r>
              <a:rPr lang="de-DE" dirty="0"/>
              <a:t> expensive. </a:t>
            </a:r>
            <a:r>
              <a:rPr lang="en-US" dirty="0"/>
              <a:t>Pure Deep Learning ignores physics laws.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7DDFC31-BB68-4A39-8F87-1202DD04102B}"/>
              </a:ext>
            </a:extLst>
          </p:cNvPr>
          <p:cNvSpPr txBox="1"/>
          <p:nvPr/>
        </p:nvSpPr>
        <p:spPr>
          <a:xfrm>
            <a:off x="312938" y="3122802"/>
            <a:ext cx="6094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Solution:</a:t>
            </a:r>
          </a:p>
          <a:p>
            <a:endParaRPr lang="de-DE" dirty="0"/>
          </a:p>
          <a:p>
            <a:r>
              <a:rPr lang="en-US" dirty="0"/>
              <a:t>Space: Predicting IR-Drop on chips instantly. </a:t>
            </a:r>
          </a:p>
          <a:p>
            <a:r>
              <a:rPr lang="en-US" dirty="0"/>
              <a:t>Time: Modeling Crosstalk in transmission lines. </a:t>
            </a:r>
          </a:p>
          <a:p>
            <a:r>
              <a:rPr lang="en-US" dirty="0"/>
              <a:t>Physics: Simulating Wave Propagation without data.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136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1BD38A-481E-4B56-B796-2C757C22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1 </a:t>
            </a:r>
            <a:r>
              <a:rPr lang="de-DE" dirty="0" err="1"/>
              <a:t>Spatial</a:t>
            </a:r>
            <a:r>
              <a:rPr lang="de-DE" dirty="0"/>
              <a:t> Operator Learning (FNO)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B9100-C77B-4B58-BCD3-F638873007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Problem: Conducted Emissions (IR-Drop) in VLSI Circuits.</a:t>
            </a:r>
          </a:p>
          <a:p>
            <a:r>
              <a:rPr lang="en-US" sz="2400" dirty="0"/>
              <a:t>Method: Fourier Neural Operator (FNO).                                                                Learns the mapping from Geometry (Rudy density) to Voltage Field globally in the frequency domain.</a:t>
            </a:r>
            <a:endParaRPr lang="de-DE" sz="2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1B196DE-A050-4154-9A99-EDB87F24C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27" y="3429000"/>
            <a:ext cx="9011113" cy="32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3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A42663-55F5-4CFC-ABE4-F82B7B97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1 </a:t>
            </a:r>
            <a:r>
              <a:rPr lang="de-DE" dirty="0" err="1"/>
              <a:t>Spatial</a:t>
            </a:r>
            <a:r>
              <a:rPr lang="de-DE" dirty="0"/>
              <a:t> Operator Learning (FNO)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6D28879-B911-4BBB-A2DD-6C3CFDC76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4505" y="227835"/>
            <a:ext cx="3447495" cy="6604063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9D264FE-CA1F-461B-802E-98AFF867D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57" y="1827978"/>
            <a:ext cx="4897930" cy="180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165D504F-821A-4982-972E-8466C333A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59844"/>
            <a:ext cx="4772487" cy="286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602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9A6A60-C060-48CA-91B8-BECA746D8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Model 2 Temporal Dynamics (Neural ODE)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6976F0-13B2-4D41-8791-A6E4A1718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65272" cy="4351338"/>
          </a:xfrm>
        </p:spPr>
        <p:txBody>
          <a:bodyPr/>
          <a:lstStyle/>
          <a:p>
            <a:r>
              <a:rPr lang="de-DE" sz="2000" b="1" dirty="0"/>
              <a:t>Problem:  </a:t>
            </a:r>
            <a:r>
              <a:rPr lang="en-US" sz="2000" dirty="0"/>
              <a:t>Crosstalk &amp; Signal Integrity in Transmission Lines.</a:t>
            </a:r>
          </a:p>
          <a:p>
            <a:r>
              <a:rPr lang="en-US" sz="2000" b="1" dirty="0"/>
              <a:t>Method: </a:t>
            </a:r>
            <a:r>
              <a:rPr lang="en-US" sz="2000" dirty="0"/>
              <a:t>Neural Ordinary Differential Equations (Neural ODE).</a:t>
            </a:r>
          </a:p>
          <a:p>
            <a:r>
              <a:rPr lang="en-US" sz="2000" dirty="0"/>
              <a:t>Goal: To create a model capable of learning the underlying differential equation from noisy measurements.</a:t>
            </a:r>
            <a:endParaRPr lang="de-DE" sz="20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26C9F9C-F138-4A5B-844F-7A69C6058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6648" y="1470699"/>
            <a:ext cx="3161399" cy="258379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F3CE4D0-BAB3-4740-AB14-A2447137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6648" y="4189429"/>
            <a:ext cx="3161400" cy="2568920"/>
          </a:xfrm>
          <a:prstGeom prst="rect">
            <a:avLst/>
          </a:prstGeom>
        </p:spPr>
      </p:pic>
      <p:pic>
        <p:nvPicPr>
          <p:cNvPr id="3074" name="Picture 2" descr="enter image description here">
            <a:extLst>
              <a:ext uri="{FF2B5EF4-FFF2-40B4-BE49-F238E27FC236}">
                <a16:creationId xmlns:a16="http://schemas.microsoft.com/office/drawing/2014/main" id="{75EEDABA-C1B5-4437-B1FD-D6C2E98F5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973" y="3591810"/>
            <a:ext cx="5040759" cy="279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649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231F84-343B-438F-967C-57DBF4EAC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3 using the PINN method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0F4E40-7972-4701-9575-88D93A613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3711" cy="4351338"/>
          </a:xfrm>
        </p:spPr>
        <p:txBody>
          <a:bodyPr>
            <a:normAutofit/>
          </a:bodyPr>
          <a:lstStyle/>
          <a:p>
            <a:r>
              <a:rPr lang="en-US" sz="2000" dirty="0"/>
              <a:t>Fundamental Wave Propagation (1D Wave Equation)</a:t>
            </a:r>
          </a:p>
          <a:p>
            <a:r>
              <a:rPr lang="en-US" sz="2000" dirty="0"/>
              <a:t>PINN Minimizes residual error</a:t>
            </a:r>
            <a:endParaRPr lang="de-DE" sz="20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502E5E4-7765-4841-8995-EBF2BB00D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198" y="1507493"/>
            <a:ext cx="6600825" cy="521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545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758FD0-99D5-4F9B-B575-476D7DEA6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800" dirty="0" err="1"/>
              <a:t>Comparative</a:t>
            </a:r>
            <a:r>
              <a:rPr lang="de-DE" sz="2800" dirty="0"/>
              <a:t> Analysis </a:t>
            </a:r>
            <a:r>
              <a:rPr lang="de-DE" sz="2800" dirty="0" err="1"/>
              <a:t>of</a:t>
            </a:r>
            <a:r>
              <a:rPr lang="de-DE" sz="2800" dirty="0"/>
              <a:t> Models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E42AEE-5E10-4FAD-B9FC-B9AAE86AB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1" y="1504991"/>
            <a:ext cx="10515600" cy="4351338"/>
          </a:xfrm>
        </p:spPr>
        <p:txBody>
          <a:bodyPr>
            <a:normAutofit/>
          </a:bodyPr>
          <a:lstStyle/>
          <a:p>
            <a:r>
              <a:rPr lang="de-DE" sz="2000" dirty="0"/>
              <a:t>Model 1</a:t>
            </a:r>
          </a:p>
          <a:p>
            <a:pPr lvl="1"/>
            <a:r>
              <a:rPr lang="de-DE" sz="2000" dirty="0"/>
              <a:t>Focus: Chip Geometries &amp; </a:t>
            </a:r>
            <a:r>
              <a:rPr lang="de-DE" sz="2000" dirty="0" err="1"/>
              <a:t>Voltage</a:t>
            </a:r>
            <a:r>
              <a:rPr lang="de-DE" sz="2000" dirty="0"/>
              <a:t> Maps (</a:t>
            </a:r>
            <a:r>
              <a:rPr lang="de-DE" sz="2000" dirty="0" err="1"/>
              <a:t>CircuitNet</a:t>
            </a:r>
            <a:r>
              <a:rPr lang="de-DE" sz="2000" dirty="0"/>
              <a:t>)</a:t>
            </a:r>
          </a:p>
          <a:p>
            <a:pPr lvl="1"/>
            <a:r>
              <a:rPr lang="en-US" sz="2000" dirty="0"/>
              <a:t>Learns in the frequency domain</a:t>
            </a:r>
            <a:endParaRPr lang="de-DE" sz="2000" dirty="0"/>
          </a:p>
          <a:p>
            <a:pPr lvl="1"/>
            <a:r>
              <a:rPr lang="de-DE" sz="2000" dirty="0" err="1"/>
              <a:t>Predicts</a:t>
            </a:r>
            <a:r>
              <a:rPr lang="de-DE" sz="2000" dirty="0"/>
              <a:t> </a:t>
            </a:r>
            <a:r>
              <a:rPr lang="de-DE" sz="2000" dirty="0" err="1"/>
              <a:t>full-field</a:t>
            </a:r>
            <a:r>
              <a:rPr lang="de-DE" sz="2000" dirty="0"/>
              <a:t> </a:t>
            </a:r>
            <a:r>
              <a:rPr lang="de-DE" sz="2000" dirty="0" err="1"/>
              <a:t>distributions</a:t>
            </a:r>
            <a:endParaRPr lang="de-DE" sz="2000" dirty="0"/>
          </a:p>
          <a:p>
            <a:r>
              <a:rPr lang="de-DE" sz="2000" dirty="0"/>
              <a:t>Model 2</a:t>
            </a:r>
          </a:p>
          <a:p>
            <a:pPr lvl="1"/>
            <a:r>
              <a:rPr lang="de-DE" sz="2000" dirty="0"/>
              <a:t>Focus: Signal Integrity &amp; Crosstalk (NASA Data)</a:t>
            </a:r>
          </a:p>
          <a:p>
            <a:pPr lvl="1"/>
            <a:r>
              <a:rPr lang="de-DE" sz="2000" dirty="0" err="1"/>
              <a:t>Learns</a:t>
            </a:r>
            <a:r>
              <a:rPr lang="de-DE" sz="2000" dirty="0"/>
              <a:t> </a:t>
            </a:r>
            <a:r>
              <a:rPr lang="de-DE" sz="2000" dirty="0" err="1"/>
              <a:t>the</a:t>
            </a:r>
            <a:r>
              <a:rPr lang="de-DE" sz="2000" dirty="0"/>
              <a:t> </a:t>
            </a:r>
            <a:r>
              <a:rPr lang="de-DE" sz="2000" dirty="0" err="1"/>
              <a:t>continuous</a:t>
            </a:r>
            <a:r>
              <a:rPr lang="de-DE" sz="2000" dirty="0"/>
              <a:t> derivative</a:t>
            </a:r>
          </a:p>
          <a:p>
            <a:pPr lvl="1"/>
            <a:r>
              <a:rPr lang="de-DE" sz="2000" dirty="0"/>
              <a:t>Handles </a:t>
            </a:r>
            <a:r>
              <a:rPr lang="de-DE" sz="2000" dirty="0" err="1"/>
              <a:t>noisy</a:t>
            </a:r>
            <a:r>
              <a:rPr lang="de-DE" sz="2000" dirty="0"/>
              <a:t>, </a:t>
            </a:r>
            <a:r>
              <a:rPr lang="de-DE" sz="2000" dirty="0" err="1"/>
              <a:t>irregular</a:t>
            </a:r>
            <a:r>
              <a:rPr lang="de-DE" sz="2000" dirty="0"/>
              <a:t> </a:t>
            </a:r>
            <a:r>
              <a:rPr lang="de-DE" sz="2000" dirty="0" err="1"/>
              <a:t>sensor</a:t>
            </a:r>
            <a:r>
              <a:rPr lang="de-DE" sz="2000" dirty="0"/>
              <a:t> </a:t>
            </a:r>
            <a:r>
              <a:rPr lang="de-DE" sz="2000" dirty="0" err="1"/>
              <a:t>data</a:t>
            </a:r>
            <a:endParaRPr lang="de-DE" sz="2000" dirty="0"/>
          </a:p>
          <a:p>
            <a:r>
              <a:rPr lang="de-DE" sz="2000" dirty="0"/>
              <a:t>Model 3</a:t>
            </a:r>
          </a:p>
          <a:p>
            <a:pPr lvl="1"/>
            <a:r>
              <a:rPr lang="de-DE" sz="2000" dirty="0"/>
              <a:t>Focus: Fundamental Wave Propagation.</a:t>
            </a:r>
          </a:p>
          <a:p>
            <a:pPr lvl="1"/>
            <a:r>
              <a:rPr lang="en-US" sz="2000" dirty="0"/>
              <a:t>Minimizes residual error of the Wave Equation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632400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6A988D-8025-4C38-BDCE-5B28C3BE8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dirty="0" err="1"/>
              <a:t>Practical</a:t>
            </a:r>
            <a:r>
              <a:rPr lang="de-DE" sz="3600" dirty="0"/>
              <a:t> Impact &amp; Future Work (HF)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51BA7C-1C7E-4C8B-92DE-5B2EDFD0A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Accelerates</a:t>
            </a:r>
            <a:r>
              <a:rPr lang="de-DE" dirty="0"/>
              <a:t> EMC </a:t>
            </a:r>
            <a:r>
              <a:rPr lang="de-DE" dirty="0" err="1"/>
              <a:t>compliance</a:t>
            </a:r>
            <a:r>
              <a:rPr lang="de-DE" dirty="0"/>
              <a:t> </a:t>
            </a:r>
            <a:r>
              <a:rPr lang="de-DE" dirty="0" err="1"/>
              <a:t>testing</a:t>
            </a:r>
            <a:endParaRPr lang="de-DE" dirty="0"/>
          </a:p>
          <a:p>
            <a:r>
              <a:rPr lang="de-DE" dirty="0" err="1"/>
              <a:t>Reduces</a:t>
            </a:r>
            <a:r>
              <a:rPr lang="de-DE" dirty="0"/>
              <a:t> </a:t>
            </a:r>
            <a:r>
              <a:rPr lang="de-DE" dirty="0" err="1"/>
              <a:t>reliance</a:t>
            </a:r>
            <a:r>
              <a:rPr lang="de-DE" dirty="0"/>
              <a:t> on expensive </a:t>
            </a:r>
            <a:r>
              <a:rPr lang="de-DE" dirty="0" err="1"/>
              <a:t>commercial</a:t>
            </a:r>
            <a:r>
              <a:rPr lang="de-DE" dirty="0"/>
              <a:t> </a:t>
            </a:r>
            <a:r>
              <a:rPr lang="de-DE" dirty="0" err="1"/>
              <a:t>solvers</a:t>
            </a:r>
            <a:endParaRPr lang="de-DE" dirty="0"/>
          </a:p>
          <a:p>
            <a:r>
              <a:rPr lang="en-US" dirty="0"/>
              <a:t>Combine PINN with FNO (Physics-Informed Operators).</a:t>
            </a:r>
            <a:endParaRPr lang="de-DE" dirty="0"/>
          </a:p>
          <a:p>
            <a:r>
              <a:rPr lang="de-DE" dirty="0"/>
              <a:t>3D </a:t>
            </a:r>
            <a:r>
              <a:rPr lang="de-DE" dirty="0" err="1"/>
              <a:t>Enclosure</a:t>
            </a:r>
            <a:r>
              <a:rPr lang="de-DE" dirty="0"/>
              <a:t> </a:t>
            </a:r>
            <a:r>
              <a:rPr lang="de-DE" dirty="0" err="1"/>
              <a:t>Shielding</a:t>
            </a:r>
            <a:endParaRPr lang="de-DE" dirty="0"/>
          </a:p>
          <a:p>
            <a:r>
              <a:rPr lang="en-US" dirty="0"/>
              <a:t>Antenna radiation calculation and simulation (implementation of models in the high-frequency range)</a:t>
            </a:r>
          </a:p>
          <a:p>
            <a:r>
              <a:rPr lang="en-US" dirty="0"/>
              <a:t>Practical Implementation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463E992-D190-46EE-A7C7-93AB3FA7BB7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4141" y="4327208"/>
            <a:ext cx="2657859" cy="253079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C03D6A1B-8E2B-402B-A29B-61591E3B782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676" y="4327208"/>
            <a:ext cx="3038338" cy="253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9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Breitbild</PresentationFormat>
  <Paragraphs>43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</vt:lpstr>
      <vt:lpstr>Machine learning measures for EMC solutions</vt:lpstr>
      <vt:lpstr>The Challenge in EMC</vt:lpstr>
      <vt:lpstr>Model 1 Spatial Operator Learning (FNO)</vt:lpstr>
      <vt:lpstr>Model 1 Spatial Operator Learning (FNO)</vt:lpstr>
      <vt:lpstr>Model 2 Temporal Dynamics (Neural ODE)</vt:lpstr>
      <vt:lpstr>Model 3 using the PINN method</vt:lpstr>
      <vt:lpstr>Comparative Analysis of Models</vt:lpstr>
      <vt:lpstr>Practical Impact &amp; Future Work (HF)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EMC</dc:title>
  <dc:creator>Arman Markosyan</dc:creator>
  <cp:lastModifiedBy>Arman Markosyan</cp:lastModifiedBy>
  <cp:revision>13</cp:revision>
  <dcterms:created xsi:type="dcterms:W3CDTF">2026-01-27T16:38:00Z</dcterms:created>
  <dcterms:modified xsi:type="dcterms:W3CDTF">2026-01-27T19:10:47Z</dcterms:modified>
</cp:coreProperties>
</file>